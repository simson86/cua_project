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완주 비용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비용($)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minimal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0.1355</c:v>
                </c:pt>
                <c:pt idx="1">
                  <c:v>0.082</c:v>
                </c:pt>
                <c:pt idx="2">
                  <c:v>0.0842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소요 시간 · 벽시계 (초)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벽시계(s)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minimal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310.5</c:v>
                </c:pt>
                <c:pt idx="1">
                  <c:v>219.7</c:v>
                </c:pt>
                <c:pt idx="2">
                  <c:v>205.1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총 토큰 사용량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총 토큰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minimal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441965</c:v>
                </c:pt>
                <c:pt idx="1">
                  <c:v>258650</c:v>
                </c:pt>
                <c:pt idx="2">
                  <c:v>261486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사고 수준별 호텔 예약 작업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4E8"/>
                </a:solidFill>
                <a:latin typeface="맑은 고딕"/>
              </a:rPr>
              <a:t>작업: "속초에서 가장 싼 호텔 이번 주 주말에 예약해줘"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3434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9FB2CE"/>
                </a:solidFill>
                <a:latin typeface="맑은 고딕"/>
              </a:rPr>
              <a:t>Gemini 3.5 Flash · Computer Use (mobile) · minimal / low / medium 각 1회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8A9CB8"/>
                </a:solidFill>
                <a:latin typeface="맑은 고딕"/>
              </a:rPr>
              <a:t>2026-07-16 · CUA_run 벤치마크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핵심 결과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658600" cy="713232"/>
          </a:xfrm>
          <a:prstGeom prst="rect">
            <a:avLst/>
          </a:prstGeom>
          <a:solidFill>
            <a:srgbClr val="2B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3716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수준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325880"/>
            <a:ext cx="17373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완주 여부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325880"/>
            <a:ext cx="10515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턴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25880"/>
            <a:ext cx="14630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API지연(s)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25880"/>
            <a:ext cx="14173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벽시계(s)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325880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총 토큰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325880"/>
            <a:ext cx="13716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비용($)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325880"/>
            <a:ext cx="15544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사용 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39112"/>
            <a:ext cx="11658600" cy="713232"/>
          </a:xfrm>
          <a:prstGeom prst="rect">
            <a:avLst/>
          </a:prstGeom>
          <a:solidFill>
            <a:srgbClr val="FBFCFD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039112"/>
            <a:ext cx="82296" cy="713232"/>
          </a:xfrm>
          <a:prstGeom prst="rect">
            <a:avLst/>
          </a:prstGeom>
          <a:solidFill>
            <a:srgbClr val="B03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39112"/>
            <a:ext cx="13716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B03838"/>
                </a:solidFill>
                <a:latin typeface="맑은 고딕"/>
              </a:rPr>
              <a:t>minimal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2039112"/>
            <a:ext cx="17373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D13A3A"/>
                </a:solidFill>
                <a:latin typeface="맑은 고딕"/>
              </a:rPr>
              <a:t>미완 (0%)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39112"/>
            <a:ext cx="10515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39112"/>
            <a:ext cx="14630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255.4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039112"/>
            <a:ext cx="14173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310.5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039112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441,965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39112"/>
            <a:ext cx="13716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0.1355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039112"/>
            <a:ext cx="15544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야놀자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52344"/>
            <a:ext cx="11658600" cy="713232"/>
          </a:xfrm>
          <a:prstGeom prst="rect">
            <a:avLst/>
          </a:prstGeom>
          <a:solidFill>
            <a:srgbClr val="F1F4F8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752344"/>
            <a:ext cx="82296" cy="713232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752344"/>
            <a:ext cx="13716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E6CE6"/>
                </a:solidFill>
                <a:latin typeface="맑은 고딕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2752344"/>
            <a:ext cx="17373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F9D55"/>
                </a:solidFill>
                <a:latin typeface="맑은 고딕"/>
              </a:rPr>
              <a:t>완주 (100%)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2752344"/>
            <a:ext cx="10515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752344"/>
            <a:ext cx="14630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189.1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752344"/>
            <a:ext cx="14173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219.7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752344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258,650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752344"/>
            <a:ext cx="13716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0.0820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752344"/>
            <a:ext cx="15544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여기어때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65576"/>
            <a:ext cx="11658600" cy="713232"/>
          </a:xfrm>
          <a:prstGeom prst="rect">
            <a:avLst/>
          </a:prstGeom>
          <a:solidFill>
            <a:srgbClr val="FBFCFD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465576"/>
            <a:ext cx="82296" cy="71323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465576"/>
            <a:ext cx="13716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F9D55"/>
                </a:solidFill>
                <a:latin typeface="맑은 고딕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20" y="3465576"/>
            <a:ext cx="17373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F9D55"/>
                </a:solidFill>
                <a:latin typeface="맑은 고딕"/>
              </a:rPr>
              <a:t>완주 (100%)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3465576"/>
            <a:ext cx="10515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465576"/>
            <a:ext cx="14630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173.2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465576"/>
            <a:ext cx="14173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205.1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3465576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261,486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465576"/>
            <a:ext cx="13716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0.0842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3465576"/>
            <a:ext cx="15544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B1F24"/>
                </a:solidFill>
                <a:latin typeface="맑은 고딕"/>
              </a:rPr>
              <a:t>여기어때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1480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B1F24"/>
                </a:solidFill>
                <a:latin typeface="맑은 고딕"/>
              </a:rPr>
              <a:t>한 줄 결론:  </a:t>
            </a:r>
            <a:r>
              <a:rPr sz="1500" b="0">
                <a:solidFill>
                  <a:srgbClr val="5A636E"/>
                </a:solidFill>
                <a:latin typeface="맑은 고딕"/>
              </a:rPr>
              <a:t>low·medium 는 여기어때로 예약 페이지까지 완주, minimal 은 야놀자로 25턴 소진 후 결제 단계서 미완.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09160"/>
            <a:ext cx="3657600" cy="173736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709160"/>
            <a:ext cx="3657600" cy="457200"/>
          </a:xfrm>
          <a:prstGeom prst="rect">
            <a:avLst/>
          </a:prstGeom>
          <a:solidFill>
            <a:srgbClr val="B03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727448"/>
            <a:ext cx="33832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minimal  ·  미완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" y="5276088"/>
            <a:ext cx="3328416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B1F24"/>
                </a:solidFill>
                <a:latin typeface="맑은 고딕"/>
              </a:rPr>
              <a:t>야놀자 사용. HK리조트 80,000원까지 도달했으나 결제·약관 동의 화면에서 스크롤만 반복하다 25턴 소진(미완).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4709160"/>
            <a:ext cx="3657600" cy="173736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4709160"/>
            <a:ext cx="3657600" cy="45720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4727448"/>
            <a:ext cx="33832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low  ·  완주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5276088"/>
            <a:ext cx="3328416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B1F24"/>
                </a:solidFill>
                <a:latin typeface="맑은 고딕"/>
              </a:rPr>
              <a:t>여기어때 사용. 베니키아호텔 산과바다 대포항 ‘온돌 2인실’ 119,000원 예약 페이지 도달.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4709160"/>
            <a:ext cx="3657600" cy="173736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75320" y="4709160"/>
            <a:ext cx="3657600" cy="4572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4727448"/>
            <a:ext cx="33832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medium  ·  완주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9912" y="5276088"/>
            <a:ext cx="3328416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B1F24"/>
                </a:solidFill>
                <a:latin typeface="맑은 고딕"/>
              </a:rPr>
              <a:t>여기어때 사용. low 와 동일 결과(119,000원) 도달. 가장 빠르고(205s) 사고 토큰 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비용 · 시간 · 토큰 비교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234440"/>
          <a:ext cx="36576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51960" y="1234440"/>
          <a:ext cx="365760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0" y="1234440"/>
          <a:ext cx="3657600" cy="30175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26280"/>
            <a:ext cx="111556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맑은 고딕"/>
              </a:rPr>
              <a:t>읽는 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• minimal 이 가장 비싸고 느림</a:t>
            </a:r>
            <a:r>
              <a:rPr sz="1400" b="0">
                <a:solidFill>
                  <a:srgbClr val="5A636E"/>
                </a:solidFill>
                <a:latin typeface="맑은 고딕"/>
              </a:rPr>
              <a:t> — 완주 못 하고 25턴(max)을 다 써서다. 실패가 곧 최고 비용($0.14, 완주 대비 약 1.6배).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• low ≈ medium</a:t>
            </a:r>
            <a:r>
              <a:rPr sz="1400" b="0">
                <a:solidFill>
                  <a:srgbClr val="5A636E"/>
                </a:solidFill>
                <a:latin typeface="맑은 고딕"/>
              </a:rPr>
              <a:t> — 둘 다 18턴에 완주, 비용·시간·토큰 거의 동일. medium 이 시간·턴에서 근소 우위, 사고 토큰은 최다(1,857).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• 비용 동인은 사고가 아니라 ‘턴 수’</a:t>
            </a:r>
            <a:r>
              <a:rPr sz="1400" b="0">
                <a:solidFill>
                  <a:srgbClr val="5A636E"/>
                </a:solidFill>
                <a:latin typeface="맑은 고딕"/>
              </a:rPr>
              <a:t> — 턴마다 스크린샷 입력이 누적. 턴을 못 줄이는 minimal 이 토큰·비용 폭증.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관찰 · 인사이트 · 주의점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532120" cy="502920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532120" cy="548640"/>
          </a:xfrm>
          <a:prstGeom prst="rect">
            <a:avLst/>
          </a:prstGeom>
          <a:solidFill>
            <a:srgbClr val="2E6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212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관찰된 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7492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앱 선택이 갈렸다.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minimal→야놀자, low·medium→여기어때. ‘가장 싼’ 값도 앱마다 달랐다(야놀자 HK리조트 80,000원 vs 여기어때 베니키아 119,000원).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minimal 은 결제 단계에서 무너졌다.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호텔은 잘 골랐으나 약관 동의·결제 화면에서 스크롤만 반복(턴21~25) → max-turns 소진.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low·medium 은 경로가 사실상 동일.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같은 앱·같은 호텔·같은 객실(119,000원)·같은 18턴. 사고 수준을 올려도 이 작업에선 결과 차이 없음.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사고 토큰↑ ≠ 결과↑.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medium 이 사고 토큰 최다(1,857)였지만 low 와 결과 동일. 여기선 값어치로 이어지지 않음.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34440"/>
            <a:ext cx="5532120" cy="5029200"/>
          </a:xfrm>
          <a:prstGeom prst="rect">
            <a:avLst/>
          </a:prstGeom>
          <a:solidFill>
            <a:srgbClr val="FDF6F0"/>
          </a:solidFill>
          <a:ln w="12700">
            <a:solidFill>
              <a:srgbClr val="F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532120" cy="54864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5212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해석 시 주의 (신뢰성)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07492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D13A3A"/>
                </a:solidFill>
                <a:latin typeface="맑은 고딕"/>
              </a:rPr>
              <a:t>완주 ≠ 정답.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‘완주’는 모델의 자기 선언일 뿐. 실제 성공은 최종 스크린샷으로 검증 필요.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결제 직전에서 멈춤(안전).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세 run 모두 실제 결제는 하지 않고 예약 페이지까지만 진행.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표본 1회씩.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수준별 단 1 run — 우열 단정 불가. 반복·순서 상쇄 측정 필요.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API지연은 상대값.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네트워크 왕복·재시도 포함이라 같은 세션 비교용. 절대 성능 아님.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맑은 고딕"/>
              </a:rPr>
              <a:t>단가는 placeholder.</a:t>
            </a:r>
            <a:r>
              <a:rPr sz="1350" b="0">
                <a:solidFill>
                  <a:srgbClr val="5A636E"/>
                </a:solidFill>
                <a:latin typeface="맑은 고딕"/>
              </a:rPr>
              <a:t> 비용($)은 추정 단가 기준 — 공식 가격표로 갱신 필요.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